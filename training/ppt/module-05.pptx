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13232"/>
            <a:ext cx="109728" cy="5257800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932688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0D6C9"/>
                </a:solidFill>
                <a:latin typeface="Aptos"/>
              </a:rPr>
              <a:t>MODULE 05  /  20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17904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Backend Development with Node.js &amp; Express.js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218688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DAE7E5"/>
                </a:solidFill>
                <a:latin typeface="Aptos"/>
              </a:rPr>
              <a:t>A practical MERN course for engineering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096512"/>
            <a:ext cx="98755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BUILD THREAD   Build an event API that a frontend can call and an API client can verify.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580644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FC6C5"/>
                </a:solidFill>
                <a:latin typeface="Aptos"/>
              </a:rPr>
              <a:t>Explain it  /  demonstrate it  /  build it  /  verify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LEARNING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By the end of this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Design, implement, and test a small REST API with validation and consistent errors.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Students should explain the concept in their own words, not just repeat a definition.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SEE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Follow the concept through the Campus Event Desk example.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The running scenario keeps technical ideas connected to a user and a real workflow.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BUILD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Implement event CRUD routes and validation. Test successful and invalid requests, unknown IDs, status codes, and error messages in Postman or curl.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The paired lab is the evidence of learning; the deck supports it rather than replacing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02  / 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Backend and Node.js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Backend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backend receives requests, applies business rules, coordinates persistence, and returns a contract to clients.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Check event capacity on the server before writing a registration.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Client-server 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Clients and servers communicate through explicit request/response contracts over a network.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frontend sends JSON to `/api/events`; Express returns a status and JSON body.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REST principles and APIs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REST-style APIs expose resources through URLs and standard HTTP semantics; an API is a contract between systems.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`GET /api/events/42` reads event 42 rather than using an action name in the URL.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03  / 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Backend and Node.js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Node.js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Node.js runs JavaScript outside the browser and provides APIs for servers, files, and networking.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Run `node server.js` to start an Express API process.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Event-driven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Node handles many I/O operations through an event loop rather than blocking one thread for each request.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server can wait for a database response while handling other incoming work.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04  / 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Backend and Node.js  /  Part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Modules, packages and npm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Modules split source; packages provide reusable code; npm manages dependencies and project scripts.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Install Express as a dependency and import it from the server entry point.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File system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Node's file-system APIs read and write files; asynchronous operations avoid blocking the event loop for routine I/O.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Read a local seed JSON file for a classroom demo, not as a substitute for a production database.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05  / 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Express request pipeline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Express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An Express app configures middleware and routes, then listens for HTTP requests on a 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`app.listen(3000)` starts the local event API.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Routes match an HTTP method and path to the code responsible for that resource/action.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`app.get('/api/events', handler)` handles event-list requests.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06  / 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Express request pipeline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Middleware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Middleware runs in order, can inspect/change request or response, and must continue, respond, or pass an error onward.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`express.json()` parses a JSON request body before the route reads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Request and response handling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Handlers read validated route/query/body data and produce a status plus a response body.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Return `201` and the created event after valid input is stored.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07  / 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REST CRUD and API contracts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GET, POST, PUT, DELETE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CRUD APIs use methods consistently: read, create, replace/update, and delete a resource.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GET the list, POST a new event, PATCH its venue, DELETE it by ID.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API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Good API contracts use predictable resource paths, status codes, field names, and error shapes.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Return `{ error: 'title is required' }` with 400 for a missing title.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08  / 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REST CRUD and API contracts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Request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Validate untrusted input at the server boundary for shape, type, allowed values, and business constraints.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Reject a start date in the past or a negative seat count before database writes.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Error handling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Centralized error handling avoids duplicated response logic and prevents internal details leaking to clients.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Log diagnostic context privately; return a generic 500 message to the client.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09  / 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Middleware, testing and security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Custom and logging middleware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Custom middleware implements cross-cutting request behavior such as timing or request IDs.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Log method, path, and duration without logging passwords or tokens.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Authentication middleware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Authentication middleware verifies a credential and attaches trusted identity; authorization is a separate permission decision.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Verify a token before an organizer-only event update route.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Postman and API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An API client sends controlled requests and lets teams inspect status, headers, body, and repeatable collections.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Test create with valid JSON and then repeat with the required title omitted.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10  / 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Middleware, testing and security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API debugging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Reproduce a failure, inspect request/response and server logs, then isolate the smallest failing boundary.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404 may be a route mismatch; inspect URL and method before changing database code.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Environment 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Environment variables configure per-environment values without hard-coding secrets into source.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Read a database URL from `process.env` and keep the local `.env` ignored.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Input sanitization and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Validation constrains acceptable input; escaping/parameterization prevents interpretation as code; least privilege limits impact.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Use a database query API rather than concatenating user input into a query string.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11  / 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PAIRED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Practice, then 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1 /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Implement event CRUD routes and validation. Test successful and invalid requests, unknown IDs, status codes, and error messages in Postman or curl.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Use the matching hands-on instructions in training/hands-on.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2 /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Test a normal case, a boundary case, and a failure case.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Write down what you observed; do not mark a feature complete from appearance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3 / 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What decision did you make, and what evidence supports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short partner walkthrough reveals whether the idea is understood and working.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12  / 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RECALL AND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Exit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72768"/>
            <a:ext cx="10241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In one minute: explain one concept, give a new example, and name one question you still have.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12724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6F52"/>
                </a:solidFill>
                <a:latin typeface="Aptos"/>
              </a:rPr>
              <a:t>SAVE AS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511296"/>
            <a:ext cx="101955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0716C"/>
                </a:solidFill>
                <a:latin typeface="Aptos"/>
              </a:rPr>
              <a:t>One working artifact  +  one test/check  +  one sentence describing your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98348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1656C"/>
                </a:solidFill>
                <a:latin typeface="Aptos"/>
              </a:rPr>
              <a:t>Next step: revisit the paired demo or lab before moving to the next module.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13  /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