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C2B3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658368" y="713232"/>
            <a:ext cx="109728" cy="5257800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51560" y="932688"/>
            <a:ext cx="9966960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300" b="1">
                <a:solidFill>
                  <a:srgbClr val="80D6C9"/>
                </a:solidFill>
                <a:latin typeface="Aptos"/>
              </a:rPr>
              <a:t>MODULE 01  /  5 HOURS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51560" y="1517904"/>
            <a:ext cx="996696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 Display"/>
              </a:rPr>
              <a:t>Programming Fundamentals &amp; Web Development Basics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78992" y="3218688"/>
            <a:ext cx="9875520" cy="38404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700" b="0">
                <a:solidFill>
                  <a:srgbClr val="DAE7E5"/>
                </a:solidFill>
                <a:latin typeface="Aptos"/>
              </a:rPr>
              <a:t>A practical MERN course for engineering students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78992" y="4096512"/>
            <a:ext cx="9875520" cy="80467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Aptos"/>
              </a:rPr>
              <a:t>BUILD THREAD   A student registers for a campus event; an organizer tracks a small event budget.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8992" y="5806440"/>
            <a:ext cx="98755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AFC6C5"/>
                </a:solidFill>
                <a:latin typeface="Aptos"/>
              </a:rPr>
              <a:t>Explain it  /  demonstrate it  /  build it  /  verify it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LEARNING TARGETS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By the end of this module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UNDERSTAND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Explain a web request and express a small real-world rule as testable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Students should explain the concept in their own words, not just repeat a definition.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SEE IT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Follow the concept through the Campus Event Desk example.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running scenario keeps technical ideas connected to a user and a real workflow.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BUILD 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Complete the paired request-map and expense-summary lab. Test available seats, a full event, and a negative/invalid capacity before accepting the logic.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paired lab is the evidence of learning; the deck supports it rather than replacing it.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02  /  13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Software development in practice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Software development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repeatable process for understanding a need, building a solution, checking it, and improving it.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For a festival signup, first ask who registers and what confirmation they need.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SDLC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The software development life cycle commonly moves through requirements, design, implementation, testing, release, and maintenance.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After releasing the event page, fix a date bug and verify the deployed page: maintenance is still development.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Types of applications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Web, mobile, desktop, and embedded applications differ by where they run and how users access them.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browser-based event portal is a web app; a campus kiosk may be a desktop or embedded app.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03  /  13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Software development in practice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Team roles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Product, design, frontend, backend, database, QA, and operations roles contribute different expertise; small teams may share roles.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QA partner checks that a full event cannot accept another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Full-stack career path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full-stack developer can work across UI, server, and data boundaries while still seeking review in unfamiliar areas.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Trace one registration through React, Express, and MongoDB before choosing which layer to improve.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04  /  13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How the web communicates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Internet fundamentals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The internet is a network of connected devices; the web is one service that uses it to exchange linked resources.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browser uses a network connection to request an event page from a host.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Client-server architecture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client requests a resource or action; a server receives it, applies rules, and returns a response.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The browser asks the event server whether seats remain; the server answers with availability.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05  /  13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How the web communicates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Frontend, backend, database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The frontend presents interaction, backend enforces application rules, and database persists records.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form collects an event choice; an API checks capacity; a database stores the registration.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HTTP request-response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HTTP request carries a method, URL, headers, and sometimes a body; the response carries a status, headers, and data.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`POST /api/registrations` with an event ID can return `201 Created` and a confirmation record.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06  /  13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Values and expressions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Variables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variable names a value so a program can use or update it; choose names that describe meaning.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`const remainingSeats = 12` is clearer than `const x = 12`.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Data types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Types describe the kind of value, such as number, string, boolean, array, or object; operations depend on type.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`"Robotics Meetup"` is text, `12` is a number, and `isOpen` can be boolean.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Operators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Arithmetic, comparison, and logical operators combine or compare values to produce a result.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`remainingSeats &gt; 0 &amp;&amp; isPublished` checks two conditions before offering registration.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07  /  13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Control flow and reusable logic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Conditionals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`if/else` selects a path based on a true/false condition.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If seats are greater than zero, accept the request; otherwise return “Event full”.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Loops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loop repeats work for each item or until a condition changes; a clear stopping condition prevents infinite work.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Loop over three expense amounts and add each to a running total.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08  /  13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Control flow and reusable logic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Functions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function packages a named operation with inputs and an optional returned result.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`calculateTotal(prices)` returns the sum so multiple reports can reuse the rule.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Arrays and objects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array stores an ordered list; an object groups named properties that describe one entity.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`[{ title: 'Talk', seats: 20 }]` is an array of event objects.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09  /  13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Problem solving before code  /  Part 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Algorithm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An algorithm is a finite, ordered set of steps that solves a defined problem.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Validate an event ID, look up the event, check capacity, save registration, then confirm.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Flowcharts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A flowchart uses standard shapes and arrows to show steps and decision branches.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diamond asks `seats &gt; 0?`; Yes leads to save, No leads to a full-event message.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10  /  13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CONCEPTS WITH EXAMPLES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Problem solving before code  /  Part 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2382012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Pseudocode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Pseudocode describes logic in readable, language-neutral steps before syntax is chosen.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881182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`IF seats &gt; 0 THEN confirm ELSE report full` communicates the rule without JavaScript details.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899916"/>
            <a:ext cx="10972800" cy="2382012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899916"/>
            <a:ext cx="91440" cy="2382012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4009644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Break down real problems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293108"/>
            <a:ext cx="10287000" cy="857524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Translate a broad request into users, inputs, rules, outputs, and edge cases.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5391210"/>
            <a:ext cx="10287000" cy="71460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For expense tracking, define whether refunds count before writing a savings calculator.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11  /  13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PAIRED LAB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Practice, then check your understanding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1389888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66928" y="1389888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499616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1 / BUILD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1783080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Complete the paired request-map and expense-summary lab. Test available seats, a full event, and a negative/invalid capacity before accepting the logic.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395910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Use the matching hands-on instructions in training/hands-on.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3063239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3063239"/>
            <a:ext cx="91440" cy="1545335"/>
          </a:xfrm>
          <a:prstGeom prst="rect">
            <a:avLst/>
          </a:prstGeom>
          <a:solidFill>
            <a:srgbClr val="E06F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2960" y="3172968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2 / VERIFY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3456432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Test a normal case, a boundary case, and a failure case.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069262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Write down what you observed; do not mark a feature complete from appearance alone.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66928" y="4736592"/>
            <a:ext cx="10972800" cy="1545335"/>
          </a:xfrm>
          <a:prstGeom prst="rect">
            <a:avLst/>
          </a:prstGeom>
          <a:solidFill>
            <a:srgbClr val="FFFFFF"/>
          </a:solidFill>
          <a:ln>
            <a:solidFill>
              <a:srgbClr val="DD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66928" y="4736592"/>
            <a:ext cx="91440" cy="1545335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846320"/>
            <a:ext cx="10332720" cy="228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400" b="1">
                <a:solidFill>
                  <a:srgbClr val="10716C"/>
                </a:solidFill>
                <a:latin typeface="Aptos"/>
              </a:rPr>
              <a:t>3 / EXPLAIN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129783"/>
            <a:ext cx="10287000" cy="556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200" b="0">
                <a:solidFill>
                  <a:srgbClr val="1C2B34"/>
                </a:solidFill>
                <a:latin typeface="Aptos"/>
              </a:rPr>
              <a:t>EXPLAIN  What decision did you make, and what evidence supports it?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2960" y="5742614"/>
            <a:ext cx="10287000" cy="463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0">
                <a:solidFill>
                  <a:srgbClr val="51656C"/>
                </a:solidFill>
                <a:latin typeface="Aptos"/>
              </a:rPr>
              <a:t>EXAMPLE  A short partner walkthrough reveals whether the idea is understood and working.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12  /  13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9F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10716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1088136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000" b="1">
                <a:solidFill>
                  <a:srgbClr val="10716C"/>
                </a:solidFill>
                <a:latin typeface="Aptos"/>
              </a:rPr>
              <a:t>RECALL AND TRANSFER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03504"/>
            <a:ext cx="10972800" cy="53035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Exit ticket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86384" y="1572768"/>
            <a:ext cx="10241280" cy="9601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500" b="1">
                <a:solidFill>
                  <a:srgbClr val="1C2B34"/>
                </a:solidFill>
                <a:latin typeface="Aptos Display"/>
              </a:rPr>
              <a:t>In one minute: explain one concept, give a new example, and name one question you still have.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4672" y="3127248"/>
            <a:ext cx="32004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100" b="1">
                <a:solidFill>
                  <a:srgbClr val="E06F52"/>
                </a:solidFill>
                <a:latin typeface="Aptos"/>
              </a:rPr>
              <a:t>SAVE AS EVIDENCE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" y="3511296"/>
            <a:ext cx="10195560" cy="6583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2000" b="1">
                <a:solidFill>
                  <a:srgbClr val="10716C"/>
                </a:solidFill>
                <a:latin typeface="Aptos"/>
              </a:rPr>
              <a:t>One working artifact  +  one test/check  +  one sentence describing your decision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4983480"/>
            <a:ext cx="1024128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500" b="0">
                <a:solidFill>
                  <a:srgbClr val="51656C"/>
                </a:solidFill>
                <a:latin typeface="Aptos"/>
              </a:rPr>
              <a:t>Next step: revisit the paired demo or lab before moving to the next module.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28816"/>
            <a:ext cx="640080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800" b="1">
                <a:solidFill>
                  <a:srgbClr val="51656C"/>
                </a:solidFill>
                <a:latin typeface="Aptos"/>
              </a:rPr>
              <a:t>CAMPUS EVENT DESK  /  MODULE 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69880" y="6528816"/>
            <a:ext cx="1188720" cy="1645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/>
            <a:r>
              <a:rPr sz="800" b="0">
                <a:solidFill>
                  <a:srgbClr val="51656C"/>
                </a:solidFill>
                <a:latin typeface="Aptos"/>
              </a:rPr>
              <a:t>13  /  13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